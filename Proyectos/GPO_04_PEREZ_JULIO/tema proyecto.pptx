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434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12191695" cy="1847088"/>
          </a:xfrm>
          <a:prstGeom prst="rect">
            <a:avLst/>
          </a:prstGeom>
          <a:solidFill>
            <a:srgbClr val="0F2A40"/>
          </a:solidFill>
          <a:ln w="12700">
            <a:solidFill>
              <a:srgbClr val="0F2A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13232" y="436880"/>
            <a:ext cx="2606040" cy="292608"/>
          </a:xfrm>
          <a:prstGeom prst="roundRect">
            <a:avLst>
              <a:gd name="adj" fmla="val 25000"/>
            </a:avLst>
          </a:prstGeom>
          <a:solidFill>
            <a:srgbClr val="4FB3C7"/>
          </a:solidFill>
          <a:ln w="12700">
            <a:solidFill>
              <a:srgbClr val="4FB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822960" y="510032"/>
            <a:ext cx="2386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DISEÑO Y ANÁLISIS DE SISTEMAS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4389" y="1020907"/>
            <a:ext cx="10657501" cy="2213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Slab SemiBold" panose="020F0502020204030204" pitchFamily="34" charset="0"/>
                <a:ea typeface="Aptos Display" pitchFamily="34" charset="-122"/>
                <a:cs typeface="Aptos Display" pitchFamily="34" charset="-120"/>
              </a:rPr>
              <a:t>Comparación del monto registrado en órdenes de compra y servicios del Estado peruano</a:t>
            </a:r>
            <a:endParaRPr lang="en-US" sz="4800" dirty="0">
              <a:latin typeface="Aptos Slab SemiBold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33790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EAF1"/>
                </a:solidFill>
              </a:rPr>
              <a:t>Primer trimestre 2024, 2025 y 2026 · Fuente: CONOSCE/SEACE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4023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FD8E1"/>
                </a:solidFill>
              </a:rPr>
              <a:t>Avance del proyecto: </a:t>
            </a:r>
            <a:r>
              <a:rPr lang="en-US" sz="1350" dirty="0" err="1">
                <a:solidFill>
                  <a:srgbClr val="BFD8E1"/>
                </a:solidFill>
              </a:rPr>
              <a:t>exploración</a:t>
            </a:r>
            <a:r>
              <a:rPr lang="en-US" sz="1350" dirty="0">
                <a:solidFill>
                  <a:srgbClr val="BFD8E1"/>
                </a:solidFill>
              </a:rPr>
              <a:t> y análisis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5285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55595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4364F"/>
          </a:solidFill>
          <a:ln w="10160">
            <a:solidFill>
              <a:srgbClr val="466F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14400" y="57424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AF0"/>
                </a:solidFill>
              </a:rPr>
              <a:t>EDUARDO CHIHUAN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7016" y="55595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4364F"/>
          </a:solidFill>
          <a:ln w="10160">
            <a:solidFill>
              <a:srgbClr val="466F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703320" y="57424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AF0"/>
                </a:solidFill>
              </a:rPr>
              <a:t>JOSE REYNA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45936" y="55595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4364F"/>
          </a:solidFill>
          <a:ln w="10160">
            <a:solidFill>
              <a:srgbClr val="466F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92240" y="57424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AF0"/>
                </a:solidFill>
              </a:rPr>
              <a:t>GUILLERMO PEREZ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34856" y="5559552"/>
            <a:ext cx="2450592" cy="530352"/>
          </a:xfrm>
          <a:prstGeom prst="roundRect">
            <a:avLst>
              <a:gd name="adj" fmla="val 10345"/>
            </a:avLst>
          </a:prstGeom>
          <a:solidFill>
            <a:srgbClr val="14364F"/>
          </a:solidFill>
          <a:ln w="10160">
            <a:solidFill>
              <a:srgbClr val="466F8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281160" y="57424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AF0"/>
                </a:solidFill>
              </a:rPr>
              <a:t>BRYAN ARANGO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" y="631850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8E1"/>
                </a:solidFill>
              </a:rPr>
              <a:t>Docente: Dr. Eric Gustavo Coronel Castillo · Fecha:  04/ 06 /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61599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masis MT Pro Medium" panose="020F0502020204030204" pitchFamily="18" charset="0"/>
                <a:ea typeface="Aptos Display" pitchFamily="34" charset="-122"/>
                <a:cs typeface="Aptos Display" pitchFamily="34" charset="-120"/>
              </a:rPr>
              <a:t>Tema del proyecto</a:t>
            </a:r>
            <a:endParaRPr lang="en-US" sz="2800" dirty="0">
              <a:latin typeface="Amasis MT Pro Medium" panose="020F0502020204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444752"/>
            <a:ext cx="555955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el monto registrado en órdenes de compra y órdenes de servicio del Estado peruano durante el primer trimestre de 2024, 2025 y 2026.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7" y="2670048"/>
            <a:ext cx="26238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6B8E"/>
                </a:solidFill>
              </a:rPr>
              <a:t>DELIMITACIÓN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127248"/>
            <a:ext cx="5669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• No se analiza todo el gasto público nacional.
• Se analiza el monto registrado en órdenes de compra y servicio publicadas en CONOSCE/SEACE.
• La comparación será descriptiva y exploratoria, sin afirmar causalidad.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68096" y="4700016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EEF6F9"/>
          </a:solidFill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96112" y="4791456"/>
            <a:ext cx="1435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B57"/>
                </a:solidFill>
              </a:rPr>
              <a:t>Periodo: enero-marzo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15184" y="4700016"/>
            <a:ext cx="2084832" cy="347472"/>
          </a:xfrm>
          <a:prstGeom prst="roundRect">
            <a:avLst>
              <a:gd name="adj" fmla="val 13158"/>
            </a:avLst>
          </a:prstGeom>
          <a:solidFill>
            <a:srgbClr val="EEF6F9"/>
          </a:solidFill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2743200" y="47914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B57"/>
                </a:solidFill>
              </a:rPr>
              <a:t>Años: 2024 · 2025 ·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4700016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EF6F9"/>
          </a:solidFill>
          <a:ln w="6350">
            <a:solidFill>
              <a:srgbClr val="D8E8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974336" y="47914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B57"/>
                </a:solidFill>
              </a:rPr>
              <a:t>Unidad: cada orden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1417320"/>
            <a:ext cx="5503244" cy="386791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9050">
            <a:solidFill>
              <a:srgbClr val="B7C4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8229118" y="5367528"/>
            <a:ext cx="26474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Imagen 1: portal CONOSCE/SEACE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1920240"/>
            <a:ext cx="4379976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AC916E4-922E-E22C-0F44-EF6D3D80E51B}"/>
              </a:ext>
            </a:extLst>
          </p:cNvPr>
          <p:cNvGrpSpPr/>
          <p:nvPr/>
        </p:nvGrpSpPr>
        <p:grpSpPr>
          <a:xfrm>
            <a:off x="6611112" y="1527048"/>
            <a:ext cx="5353090" cy="3670594"/>
            <a:chOff x="-84666" y="246339"/>
            <a:chExt cx="9161289" cy="5297813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5ABF8CA3-658E-717D-9EA4-0541050F0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814"/>
            <a:stretch>
              <a:fillRect/>
            </a:stretch>
          </p:blipFill>
          <p:spPr>
            <a:xfrm>
              <a:off x="-84666" y="246339"/>
              <a:ext cx="9161289" cy="2586331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BC6F018F-20AA-F671-11A6-DA618128C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814"/>
            <a:stretch>
              <a:fillRect/>
            </a:stretch>
          </p:blipFill>
          <p:spPr>
            <a:xfrm>
              <a:off x="-84666" y="2722205"/>
              <a:ext cx="9161289" cy="28219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análisis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1481329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de información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1810513"/>
            <a:ext cx="54864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busca conocer si el monto registrado en órdenes estatales aumentó o disminuyó en el primer trimestre de los últimos años y qué tipo de orden tuvo mayor peso: compra de bienes o contratación de servicios.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2584" y="1481329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podrá responder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7448" y="1837945"/>
            <a:ext cx="530352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• Variación del monto total por año.
• Participación de bienes frente a servicios.
• Meses con mayor concentración del monto registrado.
• Entidades y territorios con mayor participación.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1032" y="3064530"/>
            <a:ext cx="11729935" cy="3260785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B7C4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968923" y="6263337"/>
            <a:ext cx="1985929" cy="336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B57"/>
                </a:solidFill>
              </a:rPr>
              <a:t>Imagen 2: vista de columnas</a:t>
            </a:r>
            <a:endParaRPr lang="en-US" sz="12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A569DA9-52AB-1818-CB3D-6670B52D7FA3}"/>
              </a:ext>
            </a:extLst>
          </p:cNvPr>
          <p:cNvGrpSpPr/>
          <p:nvPr/>
        </p:nvGrpSpPr>
        <p:grpSpPr>
          <a:xfrm>
            <a:off x="310544" y="3131721"/>
            <a:ext cx="11556778" cy="3119992"/>
            <a:chOff x="-3419956" y="1186543"/>
            <a:chExt cx="14626779" cy="3779459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A925A37-AC07-3878-67B3-FC03E3449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419956" y="1186543"/>
              <a:ext cx="10188649" cy="3777343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1D6FC85-D32B-FA44-1034-2657F67E0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65" t="943" r="1"/>
            <a:stretch>
              <a:fillRect/>
            </a:stretch>
          </p:blipFill>
          <p:spPr>
            <a:xfrm>
              <a:off x="6765721" y="1186543"/>
              <a:ext cx="4441102" cy="3779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avance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10744200" cy="1060704"/>
          </a:xfrm>
          <a:prstGeom prst="roundRect">
            <a:avLst>
              <a:gd name="adj" fmla="val 6897"/>
            </a:avLst>
          </a:prstGeom>
          <a:solidFill>
            <a:srgbClr val="EEF6F9"/>
          </a:solidFill>
          <a:ln w="12700">
            <a:solidFill>
              <a:srgbClr val="D7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1874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10058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la evolución del monto registrado en órdenes de compra y servicios del Estado peruano durante el primer trimestre de 2024, 2025 y 2026, identificando la prioridad entre bienes y servicios.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291840"/>
            <a:ext cx="310896" cy="310896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64692" y="3374136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0" y="3273552"/>
            <a:ext cx="9646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los archivos mensuales de enero, febrero y marzo para los años seleccionados.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913632"/>
            <a:ext cx="310896" cy="310896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64692" y="3995928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71600" y="3895344"/>
            <a:ext cx="9646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Limpiar y transformar variables clave: fecha, monto, tipo de orden, entidad, departamento y proveedor.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535424"/>
            <a:ext cx="310896" cy="310896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64692" y="4617720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71600" y="4517136"/>
            <a:ext cx="9646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indicadores de total, participación y variación porcentual por año y tipo de orden.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5157216"/>
            <a:ext cx="310896" cy="310896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964692" y="5239512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71600" y="5138928"/>
            <a:ext cx="9646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visualizaciones iniciales que muestren tendencias y comparaciones relevantes.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235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analíticas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74520"/>
            <a:ext cx="530352" cy="438912"/>
          </a:xfrm>
          <a:prstGeom prst="roundRect">
            <a:avLst>
              <a:gd name="adj" fmla="val 14583"/>
            </a:avLst>
          </a:prstGeom>
          <a:solidFill>
            <a:srgbClr val="236B8E"/>
          </a:solidFill>
          <a:ln w="12700">
            <a:solidFill>
              <a:srgbClr val="236B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87552" y="20116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892808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varió el monto total registrado en el primer trimestre de 2024, 2025 y 2026?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04672" y="2624328"/>
            <a:ext cx="530352" cy="438912"/>
          </a:xfrm>
          <a:prstGeom prst="roundRect">
            <a:avLst>
              <a:gd name="adj" fmla="val 14583"/>
            </a:avLst>
          </a:prstGeom>
          <a:solidFill>
            <a:srgbClr val="2E7D6A"/>
          </a:solidFill>
          <a:ln w="12700">
            <a:solidFill>
              <a:srgbClr val="2E7D6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87552" y="27614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642616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año presentó el mayor monto registrado y cuál fue la variación porcentual?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804672" y="3374136"/>
            <a:ext cx="530352" cy="438912"/>
          </a:xfrm>
          <a:prstGeom prst="roundRect">
            <a:avLst>
              <a:gd name="adj" fmla="val 14583"/>
            </a:avLst>
          </a:prstGeom>
          <a:solidFill>
            <a:srgbClr val="236B8E"/>
          </a:solidFill>
          <a:ln w="12700">
            <a:solidFill>
              <a:srgbClr val="236B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87552" y="35112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392424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tuvo mayor participación: órdenes de compra o de servicio?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804672" y="4123944"/>
            <a:ext cx="530352" cy="438912"/>
          </a:xfrm>
          <a:prstGeom prst="roundRect">
            <a:avLst>
              <a:gd name="adj" fmla="val 14583"/>
            </a:avLst>
          </a:prstGeom>
          <a:solidFill>
            <a:srgbClr val="2E7D6A"/>
          </a:solidFill>
          <a:ln w="12700">
            <a:solidFill>
              <a:srgbClr val="2E7D6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87552" y="426110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4480" y="4142232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entidades concentraron los mayores montos registrados?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804672" y="4873752"/>
            <a:ext cx="530352" cy="438912"/>
          </a:xfrm>
          <a:prstGeom prst="roundRect">
            <a:avLst>
              <a:gd name="adj" fmla="val 14583"/>
            </a:avLst>
          </a:prstGeom>
          <a:solidFill>
            <a:srgbClr val="236B8E"/>
          </a:solidFill>
          <a:ln w="12700">
            <a:solidFill>
              <a:srgbClr val="236B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987552" y="5010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departamentos concentraron más registros y montos durante el periodo?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e indicadores a construir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07</a:t>
            </a:r>
            <a:endParaRPr lang="en-US" sz="900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01DBC32-30DD-F24D-22F9-8717362A9A6A}"/>
              </a:ext>
            </a:extLst>
          </p:cNvPr>
          <p:cNvGrpSpPr/>
          <p:nvPr/>
        </p:nvGrpSpPr>
        <p:grpSpPr>
          <a:xfrm>
            <a:off x="566926" y="1403604"/>
            <a:ext cx="10228074" cy="2747772"/>
            <a:chOff x="658367" y="1307592"/>
            <a:chExt cx="5440681" cy="2377440"/>
          </a:xfrm>
        </p:grpSpPr>
        <p:sp>
          <p:nvSpPr>
            <p:cNvPr id="8" name="Shape 6"/>
            <p:cNvSpPr/>
            <p:nvPr/>
          </p:nvSpPr>
          <p:spPr>
            <a:xfrm>
              <a:off x="658368" y="1307592"/>
              <a:ext cx="5440680" cy="365760"/>
            </a:xfrm>
            <a:prstGeom prst="rect">
              <a:avLst/>
            </a:prstGeom>
            <a:solidFill>
              <a:srgbClr val="173B57"/>
            </a:solidFill>
            <a:ln w="12700">
              <a:solidFill>
                <a:srgbClr val="173B57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 7"/>
            <p:cNvSpPr/>
            <p:nvPr/>
          </p:nvSpPr>
          <p:spPr>
            <a:xfrm>
              <a:off x="804672" y="1426464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Variable base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880360" y="1426464"/>
              <a:ext cx="292608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Uso en el análisis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58368" y="1673352"/>
              <a:ext cx="544068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3DEE8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 10"/>
            <p:cNvSpPr/>
            <p:nvPr/>
          </p:nvSpPr>
          <p:spPr>
            <a:xfrm>
              <a:off x="804672" y="1801368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monto_total_orden_original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880360" y="1764792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Calcular monto total, promedio y ranking.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58368" y="2075688"/>
              <a:ext cx="5440680" cy="402336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D3DEE8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 13"/>
            <p:cNvSpPr/>
            <p:nvPr/>
          </p:nvSpPr>
          <p:spPr>
            <a:xfrm>
              <a:off x="804672" y="2203704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tipoorden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880360" y="2167128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Comparar bienes frente a servicios.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58367" y="2500024"/>
              <a:ext cx="544068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3DEE8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 16"/>
            <p:cNvSpPr/>
            <p:nvPr/>
          </p:nvSpPr>
          <p:spPr>
            <a:xfrm>
              <a:off x="804672" y="2606040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fecha_de_emision / registro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880360" y="2569464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Crear año, mes y trimestre.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58368" y="2880360"/>
              <a:ext cx="5440680" cy="402336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D3DEE8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 19"/>
            <p:cNvSpPr/>
            <p:nvPr/>
          </p:nvSpPr>
          <p:spPr>
            <a:xfrm>
              <a:off x="804672" y="3008376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entidad / departamento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880360" y="2971800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Segmentar por institución y territorio.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58368" y="3282696"/>
              <a:ext cx="5440680" cy="40233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3DEE8"/>
              </a:solidFill>
              <a:prstDash val="solid"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4" name="Text 22"/>
            <p:cNvSpPr/>
            <p:nvPr/>
          </p:nvSpPr>
          <p:spPr>
            <a:xfrm>
              <a:off x="804672" y="3410712"/>
              <a:ext cx="1920240" cy="194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proveedor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880360" y="3374136"/>
              <a:ext cx="2971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Identificar concentración por contratista.</a:t>
              </a:r>
              <a:endParaRPr lang="en-US" sz="16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29CFCD0-6ED2-58AD-CA3A-00BA3164F71D}"/>
              </a:ext>
            </a:extLst>
          </p:cNvPr>
          <p:cNvGrpSpPr/>
          <p:nvPr/>
        </p:nvGrpSpPr>
        <p:grpSpPr>
          <a:xfrm>
            <a:off x="1115909" y="4526281"/>
            <a:ext cx="5440680" cy="1993391"/>
            <a:chOff x="713232" y="4187952"/>
            <a:chExt cx="3777125" cy="1335023"/>
          </a:xfrm>
        </p:grpSpPr>
        <p:sp>
          <p:nvSpPr>
            <p:cNvPr id="26" name="Text 24"/>
            <p:cNvSpPr/>
            <p:nvPr/>
          </p:nvSpPr>
          <p:spPr>
            <a:xfrm>
              <a:off x="713232" y="4187952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36B8E"/>
                  </a:solidFill>
                </a:rPr>
                <a:t>INDICADORES DERIVADOS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77240" y="4480560"/>
              <a:ext cx="3713117" cy="1042415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• Monto en millones de soles.
• </a:t>
              </a:r>
              <a:r>
                <a:rPr lang="en-US" sz="1400" dirty="0" err="1">
                  <a:solidFill>
                    <a:srgbClr val="1F2937"/>
                  </a:solidFill>
                </a:rPr>
                <a:t>Participación</a:t>
              </a:r>
              <a:r>
                <a:rPr lang="en-US" sz="1400" dirty="0">
                  <a:solidFill>
                    <a:srgbClr val="1F2937"/>
                  </a:solidFill>
                </a:rPr>
                <a:t> porcentual por tipo de orden.
• </a:t>
              </a:r>
              <a:r>
                <a:rPr lang="en-US" sz="1400" dirty="0" err="1">
                  <a:solidFill>
                    <a:srgbClr val="1F2937"/>
                  </a:solidFill>
                </a:rPr>
                <a:t>Variación</a:t>
              </a:r>
              <a:r>
                <a:rPr lang="en-US" sz="1400" dirty="0">
                  <a:solidFill>
                    <a:srgbClr val="1F2937"/>
                  </a:solidFill>
                </a:rPr>
                <a:t> porcentual anual.
• Ranking de entidades y departamentos.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66928" y="109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PROYECTO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46229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esencial que se quiere mostrar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90470"/>
            <a:ext cx="10881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del proyecto debe responder tres cosas: ¿subió el monto?, ¿qué se priorizó?, ¿dónde y quién concentra más registros?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242872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0F7FA"/>
          </a:solidFill>
          <a:ln w="12700">
            <a:solidFill>
              <a:srgbClr val="D7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41832" y="262989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Evolución total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41832" y="2995654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 total por año en el primer trimestre.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291072" y="242872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4EC"/>
          </a:solidFill>
          <a:ln w="12700">
            <a:solidFill>
              <a:srgbClr val="E9DD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519672" y="262989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Bienes vs servicios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995654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por tipo de orden.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713232" y="425752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0F7FA"/>
          </a:solidFill>
          <a:ln w="12700">
            <a:solidFill>
              <a:srgbClr val="D7EA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41832" y="445869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Meses fuertes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" y="4824454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de enero, febrero y marzo.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291072" y="4257526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4EC"/>
          </a:solidFill>
          <a:ln w="12700">
            <a:solidFill>
              <a:srgbClr val="E9DD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519672" y="4458694"/>
            <a:ext cx="4572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Concentración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9672" y="4824454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por entidad y departamento.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66928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8"/>
                </a:solidFill>
              </a:rPr>
              <a:t>Proyecto DAS · CONOSCE/SEACE · Entregable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83851" y="1789441"/>
            <a:ext cx="9573193" cy="2743200"/>
          </a:xfrm>
          <a:prstGeom prst="roundRect">
            <a:avLst>
              <a:gd name="adj" fmla="val 3333"/>
            </a:avLst>
          </a:prstGeom>
          <a:solidFill>
            <a:srgbClr val="EEF6F9"/>
          </a:solidFill>
          <a:ln w="12700">
            <a:solidFill>
              <a:srgbClr val="D7EAF0"/>
            </a:solidFill>
            <a:prstDash val="solid"/>
          </a:ln>
        </p:spPr>
        <p:txBody>
          <a:bodyPr/>
          <a:lstStyle/>
          <a:p>
            <a:r>
              <a:rPr lang="es-MX" sz="16600" dirty="0">
                <a:latin typeface="Amasis MT Pro Medium" panose="02040604050005020304" pitchFamily="18" charset="0"/>
              </a:rPr>
              <a:t>GRACIAS</a:t>
            </a:r>
            <a:endParaRPr lang="es-PE" sz="16600" dirty="0">
              <a:latin typeface="Amasis MT Pro Medium" panose="02040604050005020304" pitchFamily="18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75D0834-EB52-21D3-A397-CA96A2F1A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3529">
            <a:off x="157857" y="4394504"/>
            <a:ext cx="1511917" cy="174788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CF7C235-25D9-0907-1B97-BB2C548E8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977" y="370021"/>
            <a:ext cx="2012756" cy="1871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697</Words>
  <Application>Microsoft Office PowerPoint</Application>
  <PresentationFormat>Panorámica</PresentationFormat>
  <Paragraphs>101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Amasis MT Pro Medium</vt:lpstr>
      <vt:lpstr>Aptos</vt:lpstr>
      <vt:lpstr>Aptos Display</vt:lpstr>
      <vt:lpstr>Aptos Slab SemiBold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proyecto CONOSCE - órdenes de compra y servicios</dc:title>
  <dc:subject>Avance de proyecto DAS - CONOSCE</dc:subject>
  <dc:creator>OpenAI</dc:creator>
  <cp:lastModifiedBy>Gustavo Coronel</cp:lastModifiedBy>
  <cp:revision>4</cp:revision>
  <dcterms:created xsi:type="dcterms:W3CDTF">2026-06-04T14:59:22Z</dcterms:created>
  <dcterms:modified xsi:type="dcterms:W3CDTF">2026-06-05T20:23:22Z</dcterms:modified>
</cp:coreProperties>
</file>